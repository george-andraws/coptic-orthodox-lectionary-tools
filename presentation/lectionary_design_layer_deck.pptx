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17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"/>
              </a:defRPr>
            </a:pPr>
            <a:r>
              <a:t>The Coptic Lectionary Design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8F2E6"/>
                </a:solidFill>
                <a:latin typeface="Aptos"/>
              </a:defRPr>
            </a:pPr>
            <a:r>
              <a:t>Reverse lectionary, Pascha attestation, Psalm numbering, and Synaxarium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492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C69749"/>
                </a:solidFill>
                <a:latin typeface="Aptos"/>
              </a:defRPr>
            </a:pPr>
            <a:r>
              <a:t>Handoff deck for George before the final site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Date-only tools hide passage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The reverse lectionary answers where the Church reads a passage.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34290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965960"/>
            <a:ext cx="3099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Date to readings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95728"/>
            <a:ext cx="30998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Useful for today, but narrow. It answers what is appointed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4290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965960"/>
            <a:ext cx="3099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Passage to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395728"/>
            <a:ext cx="30998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Shows Holy Week, feasts, hours, saints, and repeated prayer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828800"/>
            <a:ext cx="34290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965960"/>
            <a:ext cx="3099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Source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2395728"/>
            <a:ext cx="30998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Current, historical, inferred, and unresolved rows stay visible.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Identity first, labels second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The same reading can have different labels across sources.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2657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canonical identities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66378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presentation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1737360"/>
            <a:ext cx="53035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0992" y="1874519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Data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304288"/>
            <a:ext cx="4974336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• source label</a:t>
            </a:r>
            <a:br/>
            <a:r>
              <a:t>• canonical MT reference</a:t>
            </a:r>
            <a:br/>
            <a:r>
              <a:t>• canonical LXX reference</a:t>
            </a:r>
            <a:br/>
            <a:r>
              <a:t>• stable identity key</a:t>
            </a:r>
            <a:br/>
            <a:r>
              <a:t>• source provenance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D1725"/>
                </a:solidFill>
                <a:latin typeface="Aptos"/>
              </a:defRPr>
            </a:pPr>
            <a:r>
              <a:t>Result: the site can accept either search tradition and resolve to one identity.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Psalm numbering must be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8F2E6"/>
                </a:solidFill>
                <a:latin typeface="Aptos"/>
              </a:defRPr>
            </a:pPr>
            <a:r>
              <a:t>Preserve both traditions instead of forcing one label.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20240"/>
            <a:ext cx="3108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057400"/>
            <a:ext cx="2779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LXX liturgical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487168"/>
            <a:ext cx="27797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Psalm 50</a:t>
            </a:r>
            <a:br/>
            <a:r>
              <a:t>Coptic Reader fixture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108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36592" y="2057400"/>
            <a:ext cx="2779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MT / modern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487168"/>
            <a:ext cx="27797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Psalm 51</a:t>
            </a:r>
            <a:br/>
            <a:r>
              <a:t>common English search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2926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2057400"/>
            <a:ext cx="2596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Identity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487168"/>
            <a:ext cx="259689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one reading identity</a:t>
            </a:r>
            <a:br/>
            <a:r>
              <a:t>with source convention noted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663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69749"/>
                </a:solidFill>
                <a:latin typeface="Aptos"/>
              </a:defRPr>
            </a:pPr>
            <a:r>
              <a:t>False conflicts disappear when numbering convention is explicit.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Pascha needed attestation, not guessing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Current practice and historical witnesses are stored separately.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445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Pascha attestation groups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445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temporal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419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review residue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691640"/>
            <a:ext cx="34747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1828800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1" y="2258568"/>
            <a:ext cx="314553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Coptic Reader governs the captured Wednesday Day fixture. Other rows stay cited and classified, not silently promoted.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Temporal classification prevents overclaiming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Unsettled rows are review residue, not hidden failures.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26517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98424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79"/>
            <a:ext cx="24323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candidate removed needs current 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874519"/>
            <a:ext cx="26517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98424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2468879"/>
            <a:ext cx="24323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current authority pending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874519"/>
            <a:ext cx="26517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98424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468879"/>
            <a:ext cx="24323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historical witness no current comp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74519"/>
            <a:ext cx="26517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17152" y="198424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2468879"/>
            <a:ext cx="24323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psalm equivalence unresolved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D1725"/>
                </a:solidFill>
                <a:latin typeface="Aptos"/>
              </a:defRPr>
            </a:pPr>
            <a:r>
              <a:t>The manifest records true source disagreement as zero for this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The Synaxarium bridge is useful and humble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Discovery links, not direct proper-reading proof.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664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commemorations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39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4688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bridge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182880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22392" y="1938528"/>
            <a:ext cx="18653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D1725"/>
                </a:solidFill>
                <a:latin typeface="Aptos"/>
              </a:defRPr>
            </a:pPr>
            <a:r>
              <a:t>4688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2423160"/>
            <a:ext cx="17922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15E57"/>
                </a:solidFill>
                <a:latin typeface="Aptos"/>
              </a:defRPr>
            </a:pPr>
            <a:r>
              <a:t>medium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691640"/>
            <a:ext cx="356616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1828800"/>
            <a:ext cx="3236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Important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258568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All bridge rows are collection-type links. Repeated slots are source-row or variant catalog entries, not a resolved service schedule.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The site consumes a push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Article, data, integration rules, and open questions are separated.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47472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19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Reader-facing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304288"/>
            <a:ext cx="31455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coptic-lectionary-and-synaxarium.md</a:t>
            </a:r>
            <a:br/>
            <a:r>
              <a:t>site_integration_spec.md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7472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874519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304288"/>
            <a:ext cx="31455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reverse presentation</a:t>
            </a:r>
            <a:br/>
            <a:r>
              <a:t>today snapshot</a:t>
            </a:r>
            <a:br/>
            <a:r>
              <a:t>passage footprint</a:t>
            </a:r>
            <a:br/>
            <a:r>
              <a:t>Synaxarium bridge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38328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874519"/>
            <a:ext cx="30540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304288"/>
            <a:ext cx="305409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schema</a:t>
            </a:r>
            <a:br/>
            <a:r>
              <a:t>source registry</a:t>
            </a:r>
            <a:br/>
            <a:r>
              <a:t>Psalm crosswalk</a:t>
            </a:r>
            <a:br/>
            <a:r>
              <a:t>open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D1725"/>
                </a:solidFill>
                <a:latin typeface="Aptos"/>
              </a:defRPr>
            </a:pPr>
            <a:r>
              <a:t>George does the final site push and live plain-URL verification.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5D1725"/>
                </a:solidFill>
                <a:latin typeface="Aptos"/>
              </a:defRPr>
            </a:pPr>
            <a:r>
              <a:t>Open questions are batched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15E57"/>
                </a:solidFill>
                <a:latin typeface="Aptos"/>
              </a:defRPr>
            </a:pPr>
            <a:r>
              <a:t>The run did not stop midstream, but it did not hide unsettled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21208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28800"/>
            <a:ext cx="4882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Needs later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258568"/>
            <a:ext cx="4882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• Psalm 41:1 equivalence</a:t>
            </a:r>
            <a:br/>
            <a:r>
              <a:t>• full list of 69 collections</a:t>
            </a:r>
            <a:br/>
            <a:r>
              <a:t>• Coptic Reader beyond fixture</a:t>
            </a:r>
            <a:br/>
            <a:r>
              <a:t>• 141 prose-lead Synaxarium titles</a:t>
            </a:r>
            <a:br/>
            <a:r>
              <a:t>• site corpus slug joins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91640"/>
            <a:ext cx="466344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828800"/>
            <a:ext cx="4334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Where to 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258568"/>
            <a:ext cx="433425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audit_artifacts/open_questions_for_george.md</a:t>
            </a:r>
            <a:br/>
            <a:r>
              <a:t>out/design/temporal_residue.csv</a:t>
            </a:r>
            <a:br/>
            <a:r>
              <a:t>out/design/synaxarium_commemorations.csv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17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George's push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8F2E6"/>
                </a:solidFill>
                <a:latin typeface="Aptos"/>
              </a:defRPr>
            </a:pPr>
            <a:r>
              <a:t>Copy, wire, join, verify.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256032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1965960"/>
            <a:ext cx="22311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1. Copy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395728"/>
            <a:ext cx="22311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Use the file list in site_integration_spec.md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828800"/>
            <a:ext cx="256032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965960"/>
            <a:ext cx="22311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2. Wire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032" y="2395728"/>
            <a:ext cx="22311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Accept MT and LXX input, then map to identity_key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256032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965960"/>
            <a:ext cx="22311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3. Join site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2395728"/>
            <a:ext cx="22311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Fill homily, chapter-study, and audio slugs in coptic-corpus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828800"/>
            <a:ext cx="246888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9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1432" y="1965960"/>
            <a:ext cx="21396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D1725"/>
                </a:solidFill>
                <a:latin typeface="Aptos"/>
              </a:defRPr>
            </a:pPr>
            <a:r>
              <a:t>4. Verify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2395728"/>
            <a:ext cx="213969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3262A"/>
                </a:solidFill>
                <a:latin typeface="Aptos"/>
              </a:defRPr>
            </a:pPr>
            <a:r>
              <a:t>Check the plain public URL after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69749"/>
                </a:solidFill>
                <a:latin typeface="Aptos"/>
              </a:defRPr>
            </a:pPr>
            <a:r>
              <a:t>Do not overclaim: source status travels with every 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537960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15E57"/>
                </a:solidFill>
                <a:latin typeface="Aptos"/>
              </a:defRPr>
            </a:pPr>
            <a:r>
              <a:t>Light and Logos lectionary handoff |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