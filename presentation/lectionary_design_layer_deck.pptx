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The Coptic Lectionary Design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2E6"/>
                </a:solidFill>
                <a:latin typeface="Aptos"/>
              </a:defRPr>
            </a:pPr>
            <a:r>
              <a:t>Reverse lectionary, Pascha attestation, Psalm numbering, and Synaxarium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492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C69749"/>
                </a:solidFill>
                <a:latin typeface="Aptos"/>
              </a:defRPr>
            </a:pPr>
            <a:r>
              <a:t>Handoff deck for George before the final site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15E57"/>
                </a:solidFill>
                <a:latin typeface="Aptos"/>
              </a:defRPr>
            </a:pPr>
            <a:r>
              <a:t>Light and Logos lectionary handoff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5D1725"/>
                </a:solidFill>
                <a:latin typeface="Aptos"/>
              </a:defRPr>
            </a:pPr>
            <a:r>
              <a:t>Date-only tools hide passage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15E57"/>
                </a:solidFill>
                <a:latin typeface="Aptos"/>
              </a:defRPr>
            </a:pPr>
            <a:r>
              <a:t>The reverse lectionary answers where the Church reads a passage.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965960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Date to readings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395728"/>
            <a:ext cx="30998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Useful for today, but narrow. It answers what is appointed now.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965960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Passage to 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395728"/>
            <a:ext cx="30998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Shows Holy Week, feasts, hours, saints, and repeated prayer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2880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965960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Source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2395728"/>
            <a:ext cx="30998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Current, historical, inferred, and unresolved rows stay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3796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15E57"/>
                </a:solidFill>
                <a:latin typeface="Aptos"/>
              </a:defRPr>
            </a:pPr>
            <a:r>
              <a:t>Light and Logos lectionary handoff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5D1725"/>
                </a:solidFill>
                <a:latin typeface="Aptos"/>
              </a:defRPr>
            </a:pPr>
            <a:r>
              <a:t>Identity first, labels 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15E57"/>
                </a:solidFill>
                <a:latin typeface="Aptos"/>
              </a:defRPr>
            </a:pPr>
            <a:r>
              <a:t>The same reading can have different labels across sources.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3852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2658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23160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canonical identities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8288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193852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66381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423160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presentation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73736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0992" y="18745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Data shape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2304288"/>
            <a:ext cx="4974336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• source label</a:t>
            </a:r>
            <a:br/>
            <a:r>
              <a:t>• canonical MT reference</a:t>
            </a:r>
            <a:br/>
            <a:r>
              <a:t>• canonical LXX reference</a:t>
            </a:r>
            <a:br/>
            <a:r>
              <a:t>• stable identity key</a:t>
            </a:r>
            <a:br/>
            <a:r>
              <a:t>• source provenance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1725"/>
                </a:solidFill>
                <a:latin typeface="Aptos"/>
              </a:defRPr>
            </a:pPr>
            <a:r>
              <a:t>Result: the site can accept either search tradition and resolve to one identity.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3796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15E57"/>
                </a:solidFill>
                <a:latin typeface="Aptos"/>
              </a:defRPr>
            </a:pPr>
            <a:r>
              <a:t>Light and Logos lectionary handoff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Psalm numbering must be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2E6"/>
                </a:solidFill>
                <a:latin typeface="Aptos"/>
              </a:defRPr>
            </a:pPr>
            <a:r>
              <a:t>Preserve both traditions instead of forcing one label.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57400"/>
            <a:ext cx="2779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LXX liturgical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27797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Psalm 50</a:t>
            </a:r>
            <a:br/>
            <a:r>
              <a:t>Coptic Reader fixture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920240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6592" y="2057400"/>
            <a:ext cx="2779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MT / modern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487168"/>
            <a:ext cx="27797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Psalm 51</a:t>
            </a:r>
            <a:br/>
            <a:r>
              <a:t>common English search label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920240"/>
            <a:ext cx="2926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057400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Identity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487168"/>
            <a:ext cx="25968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one reading identity</a:t>
            </a:r>
            <a:br/>
            <a:r>
              <a:t>with source convention noted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69749"/>
                </a:solidFill>
                <a:latin typeface="Aptos"/>
              </a:defRPr>
            </a:pPr>
            <a:r>
              <a:t>False conflicts disappear when numbering convention is explicit.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3796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15E57"/>
                </a:solidFill>
                <a:latin typeface="Aptos"/>
              </a:defRPr>
            </a:pPr>
            <a:r>
              <a:t>Light and Logos lectionary handoff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5D1725"/>
                </a:solidFill>
                <a:latin typeface="Aptos"/>
              </a:defRPr>
            </a:pPr>
            <a:r>
              <a:t>Pascha needed attestation, not guessing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15E57"/>
                </a:solidFill>
                <a:latin typeface="Aptos"/>
              </a:defRPr>
            </a:pPr>
            <a:r>
              <a:t>Current practice and historical witnesses are stored separately.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3852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446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23160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Pascha attestation groups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8288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93852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446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2423160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temporal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8288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193852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2423160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review residue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9164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182880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258568"/>
            <a:ext cx="31455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Coptic Reader governs the captured Wednesday Day fixture. Other rows stay cited and classified, not silently promoted.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3796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15E57"/>
                </a:solidFill>
                <a:latin typeface="Aptos"/>
              </a:defRPr>
            </a:pPr>
            <a:r>
              <a:t>Light and Logos lectionary handoff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5D1725"/>
                </a:solidFill>
                <a:latin typeface="Aptos"/>
              </a:defRPr>
            </a:pPr>
            <a:r>
              <a:t>Temporal classification prevents overclaiming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15E57"/>
                </a:solidFill>
                <a:latin typeface="Aptos"/>
              </a:defRPr>
            </a:pPr>
            <a:r>
              <a:t>Unsettled rows are review residue, not hidden failures.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984248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468879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candidate removed needs current 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74519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984248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2468879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current authority pending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874519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984248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468879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historical witness no current comp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874519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1984248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468879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psalm equivalence unresolved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D1725"/>
                </a:solidFill>
                <a:latin typeface="Aptos"/>
              </a:defRPr>
            </a:pPr>
            <a:r>
              <a:t>The manifest records true source disagreement as zero for this run.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3796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15E57"/>
                </a:solidFill>
                <a:latin typeface="Aptos"/>
              </a:defRPr>
            </a:pPr>
            <a:r>
              <a:t>Light and Logos lectionary handoff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5D1725"/>
                </a:solidFill>
                <a:latin typeface="Aptos"/>
              </a:defRPr>
            </a:pPr>
            <a:r>
              <a:t>The Synaxarium bridge is useful and humble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15E57"/>
                </a:solidFill>
                <a:latin typeface="Aptos"/>
              </a:defRPr>
            </a:pPr>
            <a:r>
              <a:t>Discovery links, not direct proper-reading proof.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93852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664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423160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commemorations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8288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93852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4688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423160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bridge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182880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193852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1725"/>
                </a:solidFill>
                <a:latin typeface="Aptos"/>
              </a:defRPr>
            </a:pPr>
            <a:r>
              <a:t>789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2423160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5E57"/>
                </a:solidFill>
                <a:latin typeface="Aptos"/>
              </a:defRPr>
            </a:pPr>
            <a:r>
              <a:t>explicit basis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91640"/>
            <a:ext cx="3566160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82880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Important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2258568"/>
            <a:ext cx="32369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Outside-69 rows remain collection-type and medium confidence. Repeated slots are source-row or variant catalog entries, not a resolved service schedule.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3796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15E57"/>
                </a:solidFill>
                <a:latin typeface="Aptos"/>
              </a:defRPr>
            </a:pPr>
            <a:r>
              <a:t>Light and Logos lectionary handoff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5D1725"/>
                </a:solidFill>
                <a:latin typeface="Aptos"/>
              </a:defRPr>
            </a:pPr>
            <a:r>
              <a:t>The site consumes a push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15E57"/>
                </a:solidFill>
                <a:latin typeface="Aptos"/>
              </a:defRPr>
            </a:pPr>
            <a:r>
              <a:t>Article, data, integration rules, and open questions are separated.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74519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Reader-facing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04288"/>
            <a:ext cx="31455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coptic-lectionary-and-synaxarium.md</a:t>
            </a:r>
            <a:br/>
            <a:r>
              <a:t>site_integration_spec.md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74519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304288"/>
            <a:ext cx="31455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reverse presentation</a:t>
            </a:r>
            <a:br/>
            <a:r>
              <a:t>today snapshot</a:t>
            </a:r>
            <a:br/>
            <a:r>
              <a:t>passage footprint</a:t>
            </a:r>
            <a:br/>
            <a:r>
              <a:t>Synaxarium bridge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745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304288"/>
            <a:ext cx="30540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schema</a:t>
            </a:r>
            <a:br/>
            <a:r>
              <a:t>source registry</a:t>
            </a:r>
            <a:br/>
            <a:r>
              <a:t>Psalm crosswalk</a:t>
            </a:r>
            <a:br/>
            <a:r>
              <a:t>open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1725"/>
                </a:solidFill>
                <a:latin typeface="Aptos"/>
              </a:defRPr>
            </a:pPr>
            <a:r>
              <a:t>George does the final site push and live plain-URL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3796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15E57"/>
                </a:solidFill>
                <a:latin typeface="Aptos"/>
              </a:defRPr>
            </a:pPr>
            <a:r>
              <a:t>Light and Logos lectionary handoff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5D1725"/>
                </a:solidFill>
                <a:latin typeface="Aptos"/>
              </a:defRPr>
            </a:pPr>
            <a:r>
              <a:t>Open questions are batched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15E57"/>
                </a:solidFill>
                <a:latin typeface="Aptos"/>
              </a:defRPr>
            </a:pPr>
            <a:r>
              <a:t>The run did not stop midstream, but it did not hide unsettled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2120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828800"/>
            <a:ext cx="4882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Needs later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258568"/>
            <a:ext cx="4882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• Psalm 41:1 equivalence</a:t>
            </a:r>
            <a:br/>
            <a:r>
              <a:t>• full list of 69 collections</a:t>
            </a:r>
            <a:br/>
            <a:r>
              <a:t>• Coptic Reader beyond fixture</a:t>
            </a:r>
            <a:br/>
            <a:r>
              <a:t>• 141 prose-lead Synaxarium titles</a:t>
            </a:r>
            <a:br/>
            <a:r>
              <a:t>• site corpus slug joins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466344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28800"/>
            <a:ext cx="433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Where to 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258568"/>
            <a:ext cx="43342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audit_artifacts/open_questions_for_george.md</a:t>
            </a:r>
            <a:br/>
            <a:r>
              <a:t>out/design/temporal_residue.csv</a:t>
            </a:r>
            <a:br/>
            <a:r>
              <a:t>out/design/synaxarium_commemorations.csv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3796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15E57"/>
                </a:solidFill>
                <a:latin typeface="Aptos"/>
              </a:defRPr>
            </a:pPr>
            <a:r>
              <a:t>Light and Logos lectionary handoff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George's push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2E6"/>
                </a:solidFill>
                <a:latin typeface="Aptos"/>
              </a:defRPr>
            </a:pPr>
            <a:r>
              <a:t>Copy, wire, join, verify.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25603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965960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1. Copy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395728"/>
            <a:ext cx="22311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Use the file list in site_integration_spec.md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828800"/>
            <a:ext cx="25603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965960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2. Wire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2" y="2395728"/>
            <a:ext cx="22311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Accept MT and LXX input, then map to identity_key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25603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965960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3. Join site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395728"/>
            <a:ext cx="22311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Fill homily, chapter-study, and audio slugs in coptic-corpus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82880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2" y="1965960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D1725"/>
                </a:solidFill>
                <a:latin typeface="Aptos"/>
              </a:defRPr>
            </a:pPr>
            <a:r>
              <a:t>4. Verify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2395728"/>
            <a:ext cx="21396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62A"/>
                </a:solidFill>
                <a:latin typeface="Aptos"/>
              </a:defRPr>
            </a:pPr>
            <a:r>
              <a:t>Check the plain public URL after 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69749"/>
                </a:solidFill>
                <a:latin typeface="Aptos"/>
              </a:defRPr>
            </a:pPr>
            <a:r>
              <a:t>Do not overclaim: source status travels with every 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3796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15E57"/>
                </a:solidFill>
                <a:latin typeface="Aptos"/>
              </a:defRPr>
            </a:pPr>
            <a:r>
              <a:t>Light and Logos lectionary handoff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